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sr-Latn-R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5" d="100"/>
          <a:sy n="75" d="100"/>
        </p:scale>
        <p:origin x="54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hr-HR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hr-H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FE4A6-1D3F-4FDA-B8C1-63319B76D91F}" type="datetimeFigureOut">
              <a:rPr lang="hr-HR" smtClean="0"/>
              <a:t>21.1.2016.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1BF37D-7F6D-4A12-B23A-18DE9BFEE78F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8520198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hr-H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hr-H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FE4A6-1D3F-4FDA-B8C1-63319B76D91F}" type="datetimeFigureOut">
              <a:rPr lang="hr-HR" smtClean="0"/>
              <a:t>21.1.2016.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1BF37D-7F6D-4A12-B23A-18DE9BFEE78F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8652067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hr-H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FE4A6-1D3F-4FDA-B8C1-63319B76D91F}" type="datetimeFigureOut">
              <a:rPr lang="hr-HR" smtClean="0"/>
              <a:t>21.1.2016.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1BF37D-7F6D-4A12-B23A-18DE9BFEE78F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6396986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hr-HR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hr-HR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hr-HR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FE4A6-1D3F-4FDA-B8C1-63319B76D91F}" type="datetimeFigureOut">
              <a:rPr lang="hr-HR" smtClean="0"/>
              <a:t>21.1.2016.</a:t>
            </a:fld>
            <a:endParaRPr lang="hr-H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1BF37D-7F6D-4A12-B23A-18DE9BFEE78F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4836842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hr-H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hr-HR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hr-HR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FE4A6-1D3F-4FDA-B8C1-63319B76D91F}" type="datetimeFigureOut">
              <a:rPr lang="hr-HR" smtClean="0"/>
              <a:t>21.1.2016.</a:t>
            </a:fld>
            <a:endParaRPr lang="hr-H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1BF37D-7F6D-4A12-B23A-18DE9BFEE78F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7399299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hr-HR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FE4A6-1D3F-4FDA-B8C1-63319B76D91F}" type="datetimeFigureOut">
              <a:rPr lang="hr-HR" smtClean="0"/>
              <a:t>21.1.2016.</a:t>
            </a:fld>
            <a:endParaRPr lang="hr-H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1BF37D-7F6D-4A12-B23A-18DE9BFEE78F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0507063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FE4A6-1D3F-4FDA-B8C1-63319B76D91F}" type="datetimeFigureOut">
              <a:rPr lang="hr-HR" smtClean="0"/>
              <a:t>21.1.2016.</a:t>
            </a:fld>
            <a:endParaRPr lang="hr-H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1BF37D-7F6D-4A12-B23A-18DE9BFEE78F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42191622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hr-H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hr-H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FE4A6-1D3F-4FDA-B8C1-63319B76D91F}" type="datetimeFigureOut">
              <a:rPr lang="hr-HR" smtClean="0"/>
              <a:t>21.1.2016.</a:t>
            </a:fld>
            <a:endParaRPr lang="hr-H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1BF37D-7F6D-4A12-B23A-18DE9BFEE78F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0311447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hr-HR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r-H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FE4A6-1D3F-4FDA-B8C1-63319B76D91F}" type="datetimeFigureOut">
              <a:rPr lang="hr-HR" smtClean="0"/>
              <a:t>21.1.2016.</a:t>
            </a:fld>
            <a:endParaRPr lang="hr-H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1BF37D-7F6D-4A12-B23A-18DE9BFEE78F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534079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hr-H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hr-H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FE4A6-1D3F-4FDA-B8C1-63319B76D91F}" type="datetimeFigureOut">
              <a:rPr lang="hr-HR" smtClean="0"/>
              <a:t>21.1.2016.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1BF37D-7F6D-4A12-B23A-18DE9BFEE78F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7619041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hr-H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hr-H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FE4A6-1D3F-4FDA-B8C1-63319B76D91F}" type="datetimeFigureOut">
              <a:rPr lang="hr-HR" smtClean="0"/>
              <a:t>21.1.2016.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1BF37D-7F6D-4A12-B23A-18DE9BFEE78F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8183498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hr-H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hr-H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DFE4A6-1D3F-4FDA-B8C1-63319B76D91F}" type="datetimeFigureOut">
              <a:rPr lang="hr-HR" smtClean="0"/>
              <a:t>21.1.2016.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1BF37D-7F6D-4A12-B23A-18DE9BFEE78F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7767766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r-Latn-R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423863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pl-PL" dirty="0"/>
              <a:t>Sustav za video nadzor u zatvorenom</a:t>
            </a:r>
            <a:br>
              <a:rPr lang="pl-PL" dirty="0"/>
            </a:br>
            <a:r>
              <a:rPr lang="hr-HR" dirty="0"/>
              <a:t>prostoru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102100"/>
            <a:ext cx="9144000" cy="2298700"/>
          </a:xfrm>
        </p:spPr>
        <p:txBody>
          <a:bodyPr>
            <a:normAutofit fontScale="92500" lnSpcReduction="20000"/>
          </a:bodyPr>
          <a:lstStyle/>
          <a:p>
            <a:r>
              <a:rPr lang="hr-HR" dirty="0" smtClean="0"/>
              <a:t>Ante Žužul</a:t>
            </a:r>
          </a:p>
          <a:p>
            <a:r>
              <a:rPr lang="hr-HR" dirty="0"/>
              <a:t>S</a:t>
            </a:r>
            <a:r>
              <a:rPr lang="hr-HR" dirty="0" smtClean="0"/>
              <a:t>ilvestar Badak</a:t>
            </a:r>
          </a:p>
          <a:p>
            <a:r>
              <a:rPr lang="hr-HR" dirty="0" smtClean="0"/>
              <a:t>Arijana Brlek</a:t>
            </a:r>
          </a:p>
          <a:p>
            <a:r>
              <a:rPr lang="hr-HR" dirty="0" smtClean="0"/>
              <a:t>Petra Marče</a:t>
            </a:r>
          </a:p>
          <a:p>
            <a:r>
              <a:rPr lang="hr-HR" dirty="0" smtClean="0"/>
              <a:t>Nino Uzelac</a:t>
            </a:r>
          </a:p>
          <a:p>
            <a:r>
              <a:rPr lang="hr-HR" dirty="0" smtClean="0"/>
              <a:t>Tomislav Gudelj</a:t>
            </a:r>
            <a:endParaRPr lang="hr-HR" dirty="0"/>
          </a:p>
        </p:txBody>
      </p:sp>
      <p:sp>
        <p:nvSpPr>
          <p:cNvPr id="4" name="TextBox 3"/>
          <p:cNvSpPr txBox="1"/>
          <p:nvPr/>
        </p:nvSpPr>
        <p:spPr>
          <a:xfrm>
            <a:off x="2654300" y="3133616"/>
            <a:ext cx="6883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r-HR" dirty="0" smtClean="0"/>
              <a:t>Raspoznavanje uzoraka</a:t>
            </a:r>
          </a:p>
          <a:p>
            <a:pPr algn="ctr"/>
            <a:r>
              <a:rPr lang="hr-HR" dirty="0" smtClean="0"/>
              <a:t>Projektni zadatak 5</a:t>
            </a:r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23462525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 smtClean="0"/>
              <a:t>Uvod</a:t>
            </a:r>
            <a:endParaRPr lang="hr-H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hr-HR" dirty="0" smtClean="0"/>
              <a:t>Uklanjanje pozadine</a:t>
            </a:r>
          </a:p>
          <a:p>
            <a:pPr>
              <a:lnSpc>
                <a:spcPct val="150000"/>
              </a:lnSpc>
            </a:pPr>
            <a:r>
              <a:rPr lang="hr-HR" dirty="0" smtClean="0"/>
              <a:t>Statički objekti</a:t>
            </a:r>
          </a:p>
          <a:p>
            <a:pPr>
              <a:lnSpc>
                <a:spcPct val="150000"/>
              </a:lnSpc>
            </a:pPr>
            <a:r>
              <a:rPr lang="hr-HR" dirty="0" smtClean="0"/>
              <a:t>Dinamički objekti</a:t>
            </a:r>
          </a:p>
          <a:p>
            <a:pPr>
              <a:lnSpc>
                <a:spcPct val="150000"/>
              </a:lnSpc>
            </a:pPr>
            <a:r>
              <a:rPr lang="hr-HR" dirty="0" smtClean="0"/>
              <a:t>Jednostavni modeli</a:t>
            </a:r>
          </a:p>
          <a:p>
            <a:pPr>
              <a:lnSpc>
                <a:spcPct val="150000"/>
              </a:lnSpc>
            </a:pPr>
            <a:r>
              <a:rPr lang="hr-HR" dirty="0" smtClean="0"/>
              <a:t>Složeni modeli</a:t>
            </a:r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7810972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 smtClean="0"/>
              <a:t>Srodna rješenja</a:t>
            </a:r>
            <a:endParaRPr lang="hr-H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hr-HR" dirty="0" smtClean="0"/>
              <a:t>Harville, Withagen, </a:t>
            </a:r>
            <a:r>
              <a:rPr lang="hr-HR" dirty="0"/>
              <a:t>Schutte, </a:t>
            </a:r>
            <a:r>
              <a:rPr lang="hr-HR" dirty="0" smtClean="0"/>
              <a:t>Groen – praćenje objekata</a:t>
            </a:r>
          </a:p>
          <a:p>
            <a:pPr>
              <a:lnSpc>
                <a:spcPct val="150000"/>
              </a:lnSpc>
            </a:pPr>
            <a:r>
              <a:rPr lang="hr-HR" dirty="0" smtClean="0"/>
              <a:t>Elgammal</a:t>
            </a:r>
            <a:r>
              <a:rPr lang="hr-HR" dirty="0"/>
              <a:t>, </a:t>
            </a:r>
            <a:r>
              <a:rPr lang="hr-HR" dirty="0" smtClean="0"/>
              <a:t>Harwood</a:t>
            </a:r>
            <a:r>
              <a:rPr lang="hr-HR" dirty="0"/>
              <a:t>, </a:t>
            </a:r>
            <a:r>
              <a:rPr lang="hr-HR" dirty="0" smtClean="0"/>
              <a:t>Davis – jezgreno bazirane gustoće</a:t>
            </a:r>
          </a:p>
          <a:p>
            <a:pPr>
              <a:lnSpc>
                <a:spcPct val="150000"/>
              </a:lnSpc>
            </a:pPr>
            <a:r>
              <a:rPr lang="en-US" dirty="0" smtClean="0"/>
              <a:t>Stauffer</a:t>
            </a:r>
            <a:r>
              <a:rPr lang="hr-HR" dirty="0" smtClean="0"/>
              <a:t>, </a:t>
            </a:r>
            <a:r>
              <a:rPr lang="en-US" dirty="0" err="1" smtClean="0"/>
              <a:t>Grimson</a:t>
            </a:r>
            <a:r>
              <a:rPr lang="hr-HR" dirty="0" smtClean="0"/>
              <a:t> – GMM</a:t>
            </a:r>
          </a:p>
          <a:p>
            <a:pPr>
              <a:lnSpc>
                <a:spcPct val="150000"/>
              </a:lnSpc>
            </a:pPr>
            <a:r>
              <a:rPr lang="hr-HR" dirty="0" smtClean="0"/>
              <a:t>Toyama</a:t>
            </a:r>
            <a:r>
              <a:rPr lang="hr-HR" dirty="0"/>
              <a:t>, </a:t>
            </a:r>
            <a:r>
              <a:rPr lang="hr-HR" dirty="0" smtClean="0"/>
              <a:t>Krumm</a:t>
            </a:r>
            <a:r>
              <a:rPr lang="hr-HR" dirty="0"/>
              <a:t>, </a:t>
            </a:r>
            <a:r>
              <a:rPr lang="hr-HR" dirty="0" smtClean="0"/>
              <a:t>Brumitt</a:t>
            </a:r>
            <a:r>
              <a:rPr lang="hr-HR" dirty="0"/>
              <a:t>, </a:t>
            </a:r>
            <a:r>
              <a:rPr lang="hr-HR" dirty="0" smtClean="0"/>
              <a:t>Meyers – autoregresivni proces</a:t>
            </a:r>
          </a:p>
          <a:p>
            <a:pPr>
              <a:lnSpc>
                <a:spcPct val="150000"/>
              </a:lnSpc>
            </a:pPr>
            <a:r>
              <a:rPr lang="hr-HR" dirty="0" smtClean="0"/>
              <a:t>Kato</a:t>
            </a:r>
            <a:r>
              <a:rPr lang="hr-HR" dirty="0"/>
              <a:t>, </a:t>
            </a:r>
            <a:r>
              <a:rPr lang="hr-HR" dirty="0" smtClean="0"/>
              <a:t>Watanabe</a:t>
            </a:r>
            <a:r>
              <a:rPr lang="hr-HR" dirty="0"/>
              <a:t>, </a:t>
            </a:r>
            <a:r>
              <a:rPr lang="hr-HR" dirty="0" smtClean="0"/>
              <a:t>Joga</a:t>
            </a:r>
            <a:r>
              <a:rPr lang="hr-HR" dirty="0"/>
              <a:t>, </a:t>
            </a:r>
            <a:r>
              <a:rPr lang="hr-HR" dirty="0" smtClean="0"/>
              <a:t>Rittscher, Blake – Markovljevi modeli</a:t>
            </a:r>
          </a:p>
          <a:p>
            <a:pPr>
              <a:lnSpc>
                <a:spcPct val="150000"/>
              </a:lnSpc>
            </a:pPr>
            <a:r>
              <a:rPr lang="it-IT" dirty="0" smtClean="0"/>
              <a:t>Prati</a:t>
            </a:r>
            <a:r>
              <a:rPr lang="it-IT" dirty="0"/>
              <a:t>, </a:t>
            </a:r>
            <a:r>
              <a:rPr lang="it-IT" dirty="0" smtClean="0"/>
              <a:t>Mikic</a:t>
            </a:r>
            <a:r>
              <a:rPr lang="it-IT" dirty="0"/>
              <a:t>, </a:t>
            </a:r>
            <a:r>
              <a:rPr lang="it-IT" dirty="0" smtClean="0"/>
              <a:t>Trivedi</a:t>
            </a:r>
            <a:r>
              <a:rPr lang="it-IT" dirty="0"/>
              <a:t>, </a:t>
            </a:r>
            <a:r>
              <a:rPr lang="it-IT" dirty="0" smtClean="0"/>
              <a:t>Cucchiara</a:t>
            </a:r>
            <a:r>
              <a:rPr lang="hr-HR" dirty="0" smtClean="0"/>
              <a:t> – detekcija sjene</a:t>
            </a:r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34722223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 smtClean="0"/>
              <a:t>GMM</a:t>
            </a:r>
            <a:endParaRPr lang="hr-H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hr-HR" dirty="0" smtClean="0"/>
              <a:t>Sastoji se od M komponenata</a:t>
            </a:r>
          </a:p>
          <a:p>
            <a:pPr>
              <a:lnSpc>
                <a:spcPct val="150000"/>
              </a:lnSpc>
            </a:pPr>
            <a:r>
              <a:rPr lang="hr-HR" dirty="0" smtClean="0"/>
              <a:t>Gaussova gustoća vjerojatnosti</a:t>
            </a:r>
          </a:p>
          <a:p>
            <a:pPr>
              <a:lnSpc>
                <a:spcPct val="150000"/>
              </a:lnSpc>
            </a:pPr>
            <a:r>
              <a:rPr lang="hr-HR" dirty="0" smtClean="0"/>
              <a:t>Procjena parametara razdiobe na temelju primjera za učenje</a:t>
            </a:r>
          </a:p>
          <a:p>
            <a:pPr>
              <a:lnSpc>
                <a:spcPct val="150000"/>
              </a:lnSpc>
            </a:pPr>
            <a:r>
              <a:rPr lang="hr-HR" dirty="0" smtClean="0"/>
              <a:t>Skup primjera za učenje se dinamički mijenja s periodom T</a:t>
            </a:r>
          </a:p>
          <a:p>
            <a:pPr>
              <a:lnSpc>
                <a:spcPct val="150000"/>
              </a:lnSpc>
            </a:pPr>
            <a:r>
              <a:rPr lang="hr-HR" dirty="0" smtClean="0"/>
              <a:t>Svaki piksel modeliramo GMM-om</a:t>
            </a:r>
          </a:p>
          <a:p>
            <a:pPr>
              <a:lnSpc>
                <a:spcPct val="150000"/>
              </a:lnSpc>
            </a:pPr>
            <a:r>
              <a:rPr lang="hr-HR" dirty="0" smtClean="0"/>
              <a:t>Odluka je li piksel pripada pozadini: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9456" y="5600700"/>
            <a:ext cx="2860779" cy="431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70684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 smtClean="0"/>
              <a:t>Ispitivanje rješenja</a:t>
            </a:r>
            <a:endParaRPr lang="hr-H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hr-HR" dirty="0" smtClean="0"/>
              <a:t>Primjeri s različitim brzinama kretanja objekata</a:t>
            </a:r>
          </a:p>
          <a:p>
            <a:pPr>
              <a:lnSpc>
                <a:spcPct val="150000"/>
              </a:lnSpc>
            </a:pPr>
            <a:r>
              <a:rPr lang="hr-HR" dirty="0" smtClean="0"/>
              <a:t>Primjeri s manjom i većom rezolucijom</a:t>
            </a:r>
          </a:p>
          <a:p>
            <a:pPr>
              <a:lnSpc>
                <a:spcPct val="150000"/>
              </a:lnSpc>
            </a:pPr>
            <a:r>
              <a:rPr lang="hr-HR" dirty="0" smtClean="0"/>
              <a:t>Testiranje s dvije kamere</a:t>
            </a:r>
          </a:p>
          <a:p>
            <a:pPr>
              <a:lnSpc>
                <a:spcPct val="150000"/>
              </a:lnSpc>
            </a:pPr>
            <a:r>
              <a:rPr lang="hr-HR" dirty="0" smtClean="0"/>
              <a:t>Manje pokreta – dulja obrada podataka</a:t>
            </a:r>
          </a:p>
          <a:p>
            <a:pPr>
              <a:lnSpc>
                <a:spcPct val="150000"/>
              </a:lnSpc>
            </a:pPr>
            <a:r>
              <a:rPr lang="hr-HR" dirty="0" smtClean="0"/>
              <a:t>Više pokreta – brža obrada podataka</a:t>
            </a:r>
          </a:p>
        </p:txBody>
      </p:sp>
    </p:spTree>
    <p:extLst>
      <p:ext uri="{BB962C8B-B14F-4D97-AF65-F5344CB8AC3E}">
        <p14:creationId xmlns:p14="http://schemas.microsoft.com/office/powerpoint/2010/main" val="11535427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 smtClean="0"/>
              <a:t>Analiza rezultata</a:t>
            </a:r>
            <a:endParaRPr lang="hr-H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hr-HR" dirty="0" smtClean="0"/>
              <a:t>Detekcija samo dinamičkih objekata</a:t>
            </a:r>
          </a:p>
          <a:p>
            <a:pPr>
              <a:lnSpc>
                <a:spcPct val="150000"/>
              </a:lnSpc>
            </a:pPr>
            <a:r>
              <a:rPr lang="hr-HR" dirty="0" smtClean="0"/>
              <a:t>Problem djelomično gibajućih objekata (čovjek koji gestikulira)</a:t>
            </a:r>
          </a:p>
          <a:p>
            <a:pPr>
              <a:lnSpc>
                <a:spcPct val="150000"/>
              </a:lnSpc>
            </a:pPr>
            <a:r>
              <a:rPr lang="hr-HR" dirty="0" smtClean="0"/>
              <a:t>Veliku ulogu igra kvaliteta kamere</a:t>
            </a:r>
          </a:p>
          <a:p>
            <a:pPr>
              <a:lnSpc>
                <a:spcPct val="150000"/>
              </a:lnSpc>
            </a:pPr>
            <a:r>
              <a:rPr lang="hr-HR" dirty="0" smtClean="0"/>
              <a:t>Veća rezulucija – sporija obrada, moguća detekcija objekata koji se manje gibaju</a:t>
            </a:r>
          </a:p>
          <a:p>
            <a:endParaRPr lang="hr-HR" dirty="0" smtClean="0"/>
          </a:p>
          <a:p>
            <a:endParaRPr lang="hr-HR" dirty="0" smtClean="0"/>
          </a:p>
        </p:txBody>
      </p:sp>
    </p:spTree>
    <p:extLst>
      <p:ext uri="{BB962C8B-B14F-4D97-AF65-F5344CB8AC3E}">
        <p14:creationId xmlns:p14="http://schemas.microsoft.com/office/powerpoint/2010/main" val="28432241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 smtClean="0"/>
              <a:t>Implementacija</a:t>
            </a:r>
            <a:endParaRPr lang="hr-H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hr-HR" dirty="0" smtClean="0"/>
              <a:t>C++</a:t>
            </a:r>
          </a:p>
          <a:p>
            <a:pPr>
              <a:lnSpc>
                <a:spcPct val="150000"/>
              </a:lnSpc>
            </a:pPr>
            <a:r>
              <a:rPr lang="hr-HR" dirty="0" smtClean="0"/>
              <a:t>OpenCV</a:t>
            </a:r>
          </a:p>
          <a:p>
            <a:pPr>
              <a:lnSpc>
                <a:spcPct val="150000"/>
              </a:lnSpc>
            </a:pPr>
            <a:r>
              <a:rPr lang="hr-HR" dirty="0" smtClean="0"/>
              <a:t>Qt</a:t>
            </a:r>
          </a:p>
          <a:p>
            <a:pPr>
              <a:lnSpc>
                <a:spcPct val="150000"/>
              </a:lnSpc>
            </a:pPr>
            <a:r>
              <a:rPr lang="hr-HR" dirty="0" smtClean="0"/>
              <a:t>Web kamera</a:t>
            </a:r>
          </a:p>
          <a:p>
            <a:endParaRPr lang="hr-HR" dirty="0" smtClean="0"/>
          </a:p>
        </p:txBody>
      </p:sp>
    </p:spTree>
    <p:extLst>
      <p:ext uri="{BB962C8B-B14F-4D97-AF65-F5344CB8AC3E}">
        <p14:creationId xmlns:p14="http://schemas.microsoft.com/office/powerpoint/2010/main" val="1437672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5200" y="2778125"/>
            <a:ext cx="10515600" cy="1325563"/>
          </a:xfrm>
        </p:spPr>
        <p:txBody>
          <a:bodyPr/>
          <a:lstStyle/>
          <a:p>
            <a:pPr algn="ctr"/>
            <a:r>
              <a:rPr lang="hr-HR" dirty="0" smtClean="0"/>
              <a:t>Hvala na pažnji </a:t>
            </a:r>
            <a:r>
              <a:rPr lang="hr-HR" dirty="0" smtClean="0">
                <a:sym typeface="Wingdings" panose="05000000000000000000" pitchFamily="2" charset="2"/>
              </a:rPr>
              <a:t></a:t>
            </a:r>
            <a:endParaRPr lang="hr-HR" dirty="0"/>
          </a:p>
        </p:txBody>
      </p:sp>
    </p:spTree>
    <p:extLst>
      <p:ext uri="{BB962C8B-B14F-4D97-AF65-F5344CB8AC3E}">
        <p14:creationId xmlns:p14="http://schemas.microsoft.com/office/powerpoint/2010/main" val="17992019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204</Words>
  <Application>Microsoft Office PowerPoint</Application>
  <PresentationFormat>Widescreen</PresentationFormat>
  <Paragraphs>46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Wingdings</vt:lpstr>
      <vt:lpstr>Office Theme</vt:lpstr>
      <vt:lpstr>Sustav za video nadzor u zatvorenom prostoru</vt:lpstr>
      <vt:lpstr>Uvod</vt:lpstr>
      <vt:lpstr>Srodna rješenja</vt:lpstr>
      <vt:lpstr>GMM</vt:lpstr>
      <vt:lpstr>Ispitivanje rješenja</vt:lpstr>
      <vt:lpstr>Analiza rezultata</vt:lpstr>
      <vt:lpstr>Implementacija</vt:lpstr>
      <vt:lpstr>Hvala na pažnji 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Sustav za video nadzor u zatvorenom prostoru</dc:title>
  <dc:creator>Flige</dc:creator>
  <cp:lastModifiedBy>Flige</cp:lastModifiedBy>
  <cp:revision>8</cp:revision>
  <dcterms:created xsi:type="dcterms:W3CDTF">2016-01-21T08:39:40Z</dcterms:created>
  <dcterms:modified xsi:type="dcterms:W3CDTF">2016-01-21T09:37:32Z</dcterms:modified>
</cp:coreProperties>
</file>